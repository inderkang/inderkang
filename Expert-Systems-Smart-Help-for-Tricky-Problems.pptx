
<file path=[Content_Types].xml><?xml version="1.0" encoding="utf-8"?>
<Types xmlns="http://schemas.openxmlformats.org/package/2006/content-types">
  <Default ContentType="image/svg+xml" Extension="sv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6C6A4-767F-AB49-AB6D-73EEF4D09BC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94DE6-14D3-FD4A-AFE1-B11586249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81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 /><Relationship Id="rId3" Type="http://schemas.openxmlformats.org/officeDocument/2006/relationships/image" Target="../media/image13.png" /><Relationship Id="rId7" Type="http://schemas.openxmlformats.org/officeDocument/2006/relationships/image" Target="../media/image17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Relationship Id="rId6" Type="http://schemas.openxmlformats.org/officeDocument/2006/relationships/image" Target="../media/image16.svg" /><Relationship Id="rId11" Type="http://schemas.openxmlformats.org/officeDocument/2006/relationships/image" Target="../media/image21.png" /><Relationship Id="rId5" Type="http://schemas.openxmlformats.org/officeDocument/2006/relationships/image" Target="../media/image15.png" /><Relationship Id="rId10" Type="http://schemas.openxmlformats.org/officeDocument/2006/relationships/image" Target="../media/image20.png" /><Relationship Id="rId4" Type="http://schemas.openxmlformats.org/officeDocument/2006/relationships/image" Target="../media/image14.svg" /><Relationship Id="rId9" Type="http://schemas.openxmlformats.org/officeDocument/2006/relationships/image" Target="../media/image19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 /><Relationship Id="rId3" Type="http://schemas.openxmlformats.org/officeDocument/2006/relationships/image" Target="../media/image22.png" /><Relationship Id="rId7" Type="http://schemas.openxmlformats.org/officeDocument/2006/relationships/image" Target="../media/image26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Relationship Id="rId6" Type="http://schemas.openxmlformats.org/officeDocument/2006/relationships/image" Target="../media/image25.svg" /><Relationship Id="rId5" Type="http://schemas.openxmlformats.org/officeDocument/2006/relationships/image" Target="../media/image24.png" /><Relationship Id="rId4" Type="http://schemas.openxmlformats.org/officeDocument/2006/relationships/image" Target="../media/image23.sv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0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6280190" y="2691527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Arial"/>
              <a:buNone/>
            </a:pPr>
            <a:r>
              <a:rPr b="1" i="0" lang="en-US" sz="4450" u="none" cap="none" strike="noStrike">
                <a:solidFill>
                  <a:srgbClr val="231971"/>
                </a:solidFill>
                <a:latin typeface="Arial"/>
                <a:ea typeface="Arial"/>
                <a:cs typeface="Arial"/>
                <a:sym typeface="Arial"/>
              </a:rPr>
              <a:t>Expert Systems: Smart Help for Tricky Problems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280190" y="4449247"/>
            <a:ext cx="75564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750"/>
              <a:buFont typeface="Arimo"/>
              <a:buNone/>
            </a:pP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Welcome to the world of </a:t>
            </a:r>
            <a:r>
              <a:rPr b="1" i="0" lang="en-US" sz="1750" u="none" cap="none" strike="noStrike">
                <a:solidFill>
                  <a:srgbClr val="5E4CE6"/>
                </a:solidFill>
                <a:latin typeface="Arimo"/>
                <a:ea typeface="Arimo"/>
                <a:cs typeface="Arimo"/>
                <a:sym typeface="Arimo"/>
              </a:rPr>
              <a:t>Expert Systems</a:t>
            </a:r>
            <a:r>
              <a:rPr b="0" i="0" lang="en-US" sz="1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. In this presentation, we will explore how computers can mimic the decision-making ability of a human expert to solve complex problems simply and efficiently.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2801600" y="7579952"/>
            <a:ext cx="1828800" cy="584100"/>
          </a:xfrm>
          <a:prstGeom prst="roundRect">
            <a:avLst>
              <a:gd fmla="val 0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9842" y="502682"/>
            <a:ext cx="5657255" cy="57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What is an Expert System?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9842" y="1147048"/>
            <a:ext cx="3134082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 Super-Smart Digital Helper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39842" y="1871186"/>
            <a:ext cx="6452354" cy="877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Think of an Expert System as a software program that acts like a specialist. It doesn't just process data; it uses </a:t>
            </a:r>
            <a:r>
              <a:rPr lang="en-US" sz="1400" b="1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reasoning</a:t>
            </a: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to provide advice or solve problems in specific areas like medicine or finance.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9842" y="2912864"/>
            <a:ext cx="6452354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Emulates human expertise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9842" y="3269218"/>
            <a:ext cx="6452354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Handles complex logic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9842" y="3625572"/>
            <a:ext cx="6452354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Provides reliable "If-Then" solutions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824" y="1912382"/>
            <a:ext cx="6452354" cy="64523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6989"/>
            <a:ext cx="80652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How do Expert Systems Think?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93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Just like a master chef follows a recipe book, an expert system follows a logical path to reach a conclusion.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07450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Gather Facts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system looks at the current data provided by the user.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407450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Apply Rules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 matches those facts against a set of expert rules.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407450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Reach Answer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 delivers a logical conclusion or suggestion.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93790" y="62397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"reasoning" is what makes it different from a standard search engine.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2835235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36315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Knowledge Base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4431030"/>
            <a:ext cx="34812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Where all the wisdom lives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93790" y="51255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</a:t>
            </a:r>
            <a:r>
              <a:rPr lang="en-US" sz="1750" b="1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Knowledge Base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is the heart of the system. It is a massive storage of specialized facts and heuristics (rules of thumb) provided by real human experts.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6106478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C3BCF6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04" y="6450568"/>
            <a:ext cx="283488" cy="2268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0906" y="6389965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Did you know?</a:t>
            </a:r>
            <a:r>
              <a:rPr lang="en-US" sz="17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Without a high-quality knowledge base, an expert system is like a genius with no memory. It contains the "What" and the "How" of a specific field.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440" y="371237"/>
            <a:ext cx="3375065" cy="421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Inference Engine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440" y="847011"/>
            <a:ext cx="2437448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Thinker: Solving the Puzzle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49" y="1260277"/>
            <a:ext cx="13535501" cy="7705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84586" y="4551864"/>
            <a:ext cx="2942339" cy="384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Inference Engine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84586" y="5046245"/>
            <a:ext cx="2942339" cy="615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brain using forward and backward chaining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211779" y="4675031"/>
            <a:ext cx="3079191" cy="384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Knowledge Base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054397" y="5169412"/>
            <a:ext cx="3393953" cy="615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Stores facts, rules, and evidence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16337" y="3922340"/>
            <a:ext cx="3079191" cy="384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User Interface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58956" y="4416721"/>
            <a:ext cx="3393953" cy="615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Collects inputs and displays results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2440" y="9117449"/>
            <a:ext cx="1368552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</a:t>
            </a:r>
            <a:r>
              <a:rPr lang="en-US" sz="1050" b="1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Inference Engine</a:t>
            </a: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is the "brain" that processes the knowledge. It uses two main methods: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2440" y="9485233"/>
            <a:ext cx="1368552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Forward Chaining:</a:t>
            </a: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Starts from facts to reach a goal.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2440" y="9748361"/>
            <a:ext cx="1368552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Backward Chaining:</a:t>
            </a: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Starts with a goal and works back to find supporting facts.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38563"/>
            <a:ext cx="67113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Why use Expert Systems?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38067"/>
            <a:ext cx="48853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Benefits of Automated Expertise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93790" y="5232559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310" y="523255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7" name="Text 4"/>
          <p:cNvSpPr/>
          <p:nvPr/>
        </p:nvSpPr>
        <p:spPr>
          <a:xfrm>
            <a:off x="1142524" y="5489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High Consistency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5980271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Computers don't have "bad days." They give the same answer every time if the facts are the same.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5232559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86482" y="523255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1" name="Text 8"/>
          <p:cNvSpPr/>
          <p:nvPr/>
        </p:nvSpPr>
        <p:spPr>
          <a:xfrm>
            <a:off x="5565696" y="5489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Available 24/7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565696" y="5980271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Unlike human experts who need sleep, these systems are always ready to help.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640133" y="5232559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09653" y="523255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5" name="Text 12"/>
          <p:cNvSpPr/>
          <p:nvPr/>
        </p:nvSpPr>
        <p:spPr>
          <a:xfrm>
            <a:off x="9988868" y="5489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Speedy Solutions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988868" y="5980271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They can scan thousands of rules in seconds to find the right path.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2697"/>
            <a:ext cx="61783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Where do we see them?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72201"/>
            <a:ext cx="32301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Real-World Applications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066693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917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Healthcare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40757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Assisting doctors in diagnosing rare diseases based on symptoms.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066693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3917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Finance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440757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Reviewing loan applications and detecting fraudulent transactions.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066693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3917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Games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440757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Powering the logic of opponents in complex strategy games.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0382" y="5534501"/>
            <a:ext cx="1448872" cy="907256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0705" y="5534501"/>
            <a:ext cx="1448872" cy="907256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1028" y="5534501"/>
            <a:ext cx="1448872" cy="9072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0977"/>
            <a:ext cx="68859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Building an Expert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00482"/>
            <a:ext cx="36345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 Quick Look at the Process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623310"/>
            <a:ext cx="226814" cy="22681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3950018"/>
            <a:ext cx="4196358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124325"/>
            <a:ext cx="30151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Knowledge Acquisition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61474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Interviewing human experts to gather their secrets and rules.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6962" y="3623310"/>
            <a:ext cx="226814" cy="22681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216962" y="3950018"/>
            <a:ext cx="4196358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0" name="Text 6"/>
          <p:cNvSpPr/>
          <p:nvPr/>
        </p:nvSpPr>
        <p:spPr>
          <a:xfrm>
            <a:off x="5216962" y="4124325"/>
            <a:ext cx="31403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Knowledge Engineering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16962" y="461474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Translating that human wisdom into code and logic rules.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40133" y="3623310"/>
            <a:ext cx="226814" cy="22681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640133" y="3950018"/>
            <a:ext cx="4196358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4" name="Text 9"/>
          <p:cNvSpPr/>
          <p:nvPr/>
        </p:nvSpPr>
        <p:spPr>
          <a:xfrm>
            <a:off x="9640133" y="4124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Testing &amp; Refinement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640133" y="461474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Checking the system against real cases to ensure accuracy.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93790" y="57657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</a:t>
            </a:r>
            <a:r>
              <a:rPr lang="en-US" sz="1750" b="1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Knowledge Engineer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is the bridge between the human expert and the computer.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35981"/>
            <a:ext cx="68944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Challenges and the Future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354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Road Ahead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8567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Current Hurdles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43793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Hard to update manual rules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88013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Lack of "common sense"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32233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 initial setup cost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8567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Future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56321" y="4437936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Combining </a:t>
            </a: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Expert Systems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with </a:t>
            </a: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Machine Learning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so they can learn from new data automatically without human intervention.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22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146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Expert Systems take the world's most complex knowledge and make it accessible to everyone.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32735"/>
            <a:ext cx="4196358" cy="2047994"/>
          </a:xfrm>
          <a:prstGeom prst="roundRect">
            <a:avLst>
              <a:gd name="adj" fmla="val 2658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0671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Expertise Scaled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55758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They bring specialist knowledge to remote areas or busy workplaces.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832735"/>
            <a:ext cx="4196358" cy="2047994"/>
          </a:xfrm>
          <a:prstGeom prst="roundRect">
            <a:avLst>
              <a:gd name="adj" fmla="val 2658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30671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Reliable Logic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355758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They provide a structured, error-free way to solve difficult puzzles.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832735"/>
            <a:ext cx="4196358" cy="2047994"/>
          </a:xfrm>
          <a:prstGeom prst="roundRect">
            <a:avLst>
              <a:gd name="adj" fmla="val 2658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30671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Simple &amp; Smart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355758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They prove that even the hardest problems can be simplified with the right rules.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220891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Empowering Decisions with Digital Wisdom</a:t>
            </a:r>
            <a:endParaRPr lang="en-US" sz="6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